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320040" cy="219456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9144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</a:rPr>
              <a:t>AWS Monitor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9144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</a:rPr>
              <a:t>Guía de Desarrollo · Documentación Técnica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803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A9BCC"/>
                </a:solidFill>
              </a:rPr>
              <a:t>Arquitectura · Despliegue · Seguridad · Tests · Operaciones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749039"/>
            <a:ext cx="973836" cy="347472"/>
          </a:xfrm>
          <a:prstGeom prst="rect">
            <a:avLst/>
          </a:prstGeom>
          <a:solidFill>
            <a:srgbClr val="2D3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3776472"/>
            <a:ext cx="83667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us-east-1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78507" y="3749039"/>
            <a:ext cx="1517904" cy="347472"/>
          </a:xfrm>
          <a:prstGeom prst="rect">
            <a:avLst/>
          </a:prstGeom>
          <a:solidFill>
            <a:srgbClr val="2D3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8236" y="3776472"/>
            <a:ext cx="1380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Claude 3.5 Haiku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1004" y="3749039"/>
            <a:ext cx="1129284" cy="347472"/>
          </a:xfrm>
          <a:prstGeom prst="rect">
            <a:avLst/>
          </a:prstGeom>
          <a:solidFill>
            <a:srgbClr val="2D3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0732" y="3776472"/>
            <a:ext cx="9921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AWS Bedrock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3749039"/>
            <a:ext cx="740664" cy="347472"/>
          </a:xfrm>
          <a:prstGeom prst="rect">
            <a:avLst/>
          </a:prstGeom>
          <a:solidFill>
            <a:srgbClr val="2D3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64608" y="3776472"/>
            <a:ext cx="6035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CDK v2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0136" y="3749039"/>
            <a:ext cx="1129284" cy="347472"/>
          </a:xfrm>
          <a:prstGeom prst="rect">
            <a:avLst/>
          </a:prstGeom>
          <a:solidFill>
            <a:srgbClr val="2D3A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9864" y="3776472"/>
            <a:ext cx="9921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Python 3.12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09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A7AA8"/>
                </a:solidFill>
              </a:rPr>
              <a:t>3htp · asilveira@3htp.com · Cuenta AWS: 369595298303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Descripción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Agente conversacional de monitoreo AWS para infraestructura de 3htp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34440"/>
            <a:ext cx="539496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234440"/>
            <a:ext cx="64008" cy="507492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</a:rPr>
              <a:t>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l"/>
            <a:r>
              <a:rPr sz="1300" b="0" i="0">
                <a:solidFill>
                  <a:srgbClr val="1A1A2E"/>
                </a:solidFill>
              </a:rPr>
              <a:t>Agente conversacional que monitorea la salud de</a:t>
            </a:r>
          </a:p>
          <a:p>
            <a:pPr algn="l"/>
            <a:r>
              <a:rPr sz="1300" b="0" i="0">
                <a:solidFill>
                  <a:srgbClr val="1A1A2E"/>
                </a:solidFill>
              </a:rPr>
              <a:t>infraestructura AWS en us-east-1.</a:t>
            </a:r>
          </a:p>
          <a:p>
            <a:pPr algn="l"/>
            <a:r>
              <a:rPr sz="800" b="0" i="0">
                <a:solidFill>
                  <a:srgbClr val="1A1A2E"/>
                </a:solidFill>
              </a:rPr>
              <a:t/>
            </a:r>
          </a:p>
          <a:p>
            <a:pPr algn="l"/>
            <a:r>
              <a:rPr sz="1300" b="0" i="0">
                <a:solidFill>
                  <a:srgbClr val="1A1A2E"/>
                </a:solidFill>
              </a:rPr>
              <a:t>El usuario escribe en lenguaje natural y el agente</a:t>
            </a:r>
          </a:p>
          <a:p>
            <a:pPr algn="l"/>
            <a:r>
              <a:rPr sz="1300" b="0" i="0">
                <a:solidFill>
                  <a:srgbClr val="1A1A2E"/>
                </a:solidFill>
              </a:rPr>
              <a:t>consulta los recursos AWS en tiempo real.</a:t>
            </a:r>
          </a:p>
          <a:p>
            <a:pPr algn="l"/>
            <a:r>
              <a:rPr sz="800" b="0" i="0">
                <a:solidFill>
                  <a:srgbClr val="1A1A2E"/>
                </a:solidFill>
              </a:rPr>
              <a:t/>
            </a:r>
          </a:p>
          <a:p>
            <a:pPr algn="l"/>
            <a:r>
              <a:rPr sz="1300" b="1" i="0">
                <a:solidFill>
                  <a:srgbClr val="1E2761"/>
                </a:solidFill>
              </a:rPr>
              <a:t>Recursos monitoreados:</a:t>
            </a:r>
          </a:p>
          <a:p>
            <a:pPr algn="l"/>
            <a:r>
              <a:rPr sz="1300" b="0" i="0">
                <a:solidFill>
                  <a:srgbClr val="1A1A2E"/>
                </a:solidFill>
              </a:rPr>
              <a:t>  • EC2 — estado de instancias y salud</a:t>
            </a:r>
          </a:p>
          <a:p>
            <a:pPr algn="l"/>
            <a:r>
              <a:rPr sz="1300" b="0" i="0">
                <a:solidFill>
                  <a:srgbClr val="1A1A2E"/>
                </a:solidFill>
              </a:rPr>
              <a:t>  • Lambda — invocaciones, errores, duración</a:t>
            </a:r>
          </a:p>
          <a:p>
            <a:pPr algn="l"/>
            <a:r>
              <a:rPr sz="1300" b="0" i="0">
                <a:solidFill>
                  <a:srgbClr val="1A1A2E"/>
                </a:solidFill>
              </a:rPr>
              <a:t>  • CloudWatch — alarmas activas y métricas</a:t>
            </a:r>
          </a:p>
          <a:p>
            <a:pPr algn="l"/>
            <a:r>
              <a:rPr sz="1300" b="0" i="0">
                <a:solidFill>
                  <a:srgbClr val="1A1A2E"/>
                </a:solidFill>
              </a:rPr>
              <a:t>  • Logs Insights — análisis de errores en logs</a:t>
            </a:r>
          </a:p>
          <a:p>
            <a:pPr algn="l"/>
            <a:r>
              <a:rPr sz="1300" b="0" i="0">
                <a:solidFill>
                  <a:srgbClr val="1A1A2E"/>
                </a:solidFill>
              </a:rPr>
              <a:t>  • X-Ray — trazas distribuidas y latencia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577840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64008" cy="5074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9844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</a:rPr>
              <a:t>Stack Técnico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IaC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173736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AWS CDK v2 (TypeScript)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81928" y="2084831"/>
            <a:ext cx="539496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4942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LLM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2249424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us.anthropic.claude-3-5-haiku-20241022-v1:0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81928" y="2596896"/>
            <a:ext cx="539496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7614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Runtime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76148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Python 3.12 Lambda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81928" y="3108960"/>
            <a:ext cx="539496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2735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Frontend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3273552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HTML/JS estático · S3 + CloudFront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81928" y="3621024"/>
            <a:ext cx="539496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78561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3785616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API Gateway REST + Lambda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81928" y="4133088"/>
            <a:ext cx="539496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297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Región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18120" y="4297680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us-east-1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81928" y="4645152"/>
            <a:ext cx="539496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80974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Auth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18120" y="4809744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IAM Roles (sin Access Keys en código)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81928" y="5157216"/>
            <a:ext cx="539496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532180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8FF"/>
                </a:solidFill>
              </a:rPr>
              <a:t>Tests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532180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162 tests · Python stdlib · sin pip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Arquitectura del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Flujo completo: Browser → CloudFront → API GW → Lambda → Bedrock Agent →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1627632" cy="8686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353312"/>
            <a:ext cx="15361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Browser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(Chat UI)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9384" y="1554480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FF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1280160"/>
            <a:ext cx="1627632" cy="868680"/>
          </a:xfrm>
          <a:prstGeom prst="rect">
            <a:avLst/>
          </a:prstGeom>
          <a:solidFill>
            <a:srgbClr val="06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48839" y="1353312"/>
            <a:ext cx="15361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CloudFront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+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1554480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FF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1280160"/>
            <a:ext cx="1627632" cy="8686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39" y="1353312"/>
            <a:ext cx="15361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API Gateway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POST /chat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6984" y="1554480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F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1280160"/>
            <a:ext cx="1627632" cy="868680"/>
          </a:xfrm>
          <a:prstGeom prst="rect">
            <a:avLst/>
          </a:prstGeom>
          <a:solidFill>
            <a:srgbClr val="05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1353312"/>
            <a:ext cx="15361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Lambda Proxy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chat-proxy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15783" y="1554480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FF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89520" y="1280160"/>
            <a:ext cx="1627632" cy="8686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1353312"/>
            <a:ext cx="15361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Bedrock Agent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aws-monitor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4584" y="1554480"/>
            <a:ext cx="310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FF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1280160"/>
            <a:ext cx="1627632" cy="868680"/>
          </a:xfrm>
          <a:prstGeom prst="rect">
            <a:avLst/>
          </a:prstGeom>
          <a:solidFill>
            <a:srgbClr val="05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4040" y="1353312"/>
            <a:ext cx="153619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Lambda Actions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monitor-actions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2359152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AWS Resources (Action Group — 6 acciones)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724912"/>
            <a:ext cx="1828800" cy="1188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76148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EC2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7472" y="3081528"/>
            <a:ext cx="1691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DescribeInstances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(paginado)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2724912"/>
            <a:ext cx="1828800" cy="1188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40864" y="276148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Lambda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3081528"/>
            <a:ext cx="1691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ListFunctions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GetMetricStatistics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24528" y="2724912"/>
            <a:ext cx="1828800" cy="1188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15968" y="276148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CloudWatch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3081528"/>
            <a:ext cx="1691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DescribeAlarms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GetMetricStatistics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9632" y="2724912"/>
            <a:ext cx="1828800" cy="118872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1072" y="276148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Logs Insights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2784" y="3081528"/>
            <a:ext cx="1691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StartQuery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GetQueryResults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74736" y="2724912"/>
            <a:ext cx="1828800" cy="1188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66176" y="276148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X-Ray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7888" y="3081528"/>
            <a:ext cx="1691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GetTraceSummaries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BatchGetTraces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9840" y="2724912"/>
            <a:ext cx="1828800" cy="1188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80" y="276148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Bedrock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22992" y="3081528"/>
            <a:ext cx="16916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FFFFFF"/>
                </a:solidFill>
              </a:rPr>
              <a:t>InvokeAgent</a:t>
            </a:r>
          </a:p>
          <a:p>
            <a:pPr algn="ctr"/>
            <a:r>
              <a:rPr sz="950">
                <a:solidFill>
                  <a:srgbClr val="FFFFFF"/>
                </a:solidFill>
              </a:rPr>
              <a:t>Claude 3.5 Haiku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069080"/>
            <a:ext cx="11612880" cy="5029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114800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E2761"/>
                </a:solidFill>
              </a:rPr>
              <a:t>Auth: IAM Roles  |  Región: us-east-1  |  Modelo: us.anthropic.claude-3-5-haiku-20241022-v1:0 (inference profile)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663440"/>
            <a:ext cx="1161288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4663440"/>
            <a:ext cx="64008" cy="1554480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4709160"/>
            <a:ext cx="4572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</a:rPr>
              <a:t>Ciclo ReAct del Agente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047488"/>
            <a:ext cx="2651760" cy="1005840"/>
          </a:xfrm>
          <a:prstGeom prst="rect">
            <a:avLst/>
          </a:prstGeom>
          <a:solidFill>
            <a:srgbClr val="06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5084064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THINK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72" y="543153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</a:rPr>
              <a:t>Analiza la consulta y selecciona acción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82112" y="5376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FF"/>
                </a:solidFill>
              </a:rPr>
              <a:t>→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29000" y="5047488"/>
            <a:ext cx="2651760" cy="1005840"/>
          </a:xfrm>
          <a:prstGeom prst="rect">
            <a:avLst/>
          </a:prstGeom>
          <a:solidFill>
            <a:srgbClr val="05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20440" y="5084064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02152" y="543153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</a:rPr>
              <a:t>Invoca la Lambda action apropiada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08192" y="5376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FF"/>
                </a:solidFill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79" y="5047488"/>
            <a:ext cx="2651760" cy="10058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19" y="5084064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OBSERVE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8231" y="543153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</a:rPr>
              <a:t>Recibe el resultado JSON de la acción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34272" y="5376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A8FF"/>
                </a:solidFill>
              </a:rPr>
              <a:t>→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281160" y="5047488"/>
            <a:ext cx="2651760" cy="1005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72600" y="5084064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RESPOND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54312" y="5431536"/>
            <a:ext cx="2514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</a:rPr>
              <a:t>Genera respuesta en lenguaje natural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Estructura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Organización de archivos y responsabilidades de cada componente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5486400" cy="52852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6187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8FF"/>
                </a:solidFill>
              </a:rPr>
              <a:t>aws-monitor/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1664208"/>
            <a:ext cx="512064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0">
                <a:solidFill>
                  <a:srgbClr val="CADCFC"/>
                </a:solidFill>
              </a:rPr>
              <a:t>├── bin/</a:t>
            </a:r>
          </a:p>
          <a:p>
            <a:r>
              <a:rPr sz="1000" i="0">
                <a:solidFill>
                  <a:srgbClr val="FFFFFF"/>
                </a:solidFill>
              </a:rPr>
              <a:t>│   └── app.ts</a:t>
            </a:r>
          </a:p>
          <a:p>
            <a:r>
              <a:rPr sz="900" i="1">
                <a:solidFill>
                  <a:srgbClr val="8899BB"/>
                </a:solidFill>
              </a:rPr>
              <a:t>│       (2 stacks · us-east-1)</a:t>
            </a:r>
          </a:p>
          <a:p>
            <a:r>
              <a:rPr sz="1100" i="0">
                <a:solidFill>
                  <a:srgbClr val="CADCFC"/>
                </a:solidFill>
              </a:rPr>
              <a:t>├── lib/</a:t>
            </a:r>
          </a:p>
          <a:p>
            <a:r>
              <a:rPr sz="1000" i="0">
                <a:solidFill>
                  <a:srgbClr val="FFFFFF"/>
                </a:solidFill>
              </a:rPr>
              <a:t>│   ├── monitor-agent-stack.ts</a:t>
            </a:r>
          </a:p>
          <a:p>
            <a:r>
              <a:rPr sz="1000" i="0">
                <a:solidFill>
                  <a:srgbClr val="FFFFFF"/>
                </a:solidFill>
              </a:rPr>
              <a:t>│   ├── chat-frontend-stack.ts</a:t>
            </a:r>
          </a:p>
          <a:p>
            <a:r>
              <a:rPr sz="1000" i="0">
                <a:solidFill>
                  <a:srgbClr val="FFFFFF"/>
                </a:solidFill>
              </a:rPr>
              <a:t>│   └── monitor-openapi.json</a:t>
            </a:r>
          </a:p>
          <a:p>
            <a:r>
              <a:rPr sz="900" i="1">
                <a:solidFill>
                  <a:srgbClr val="8899BB"/>
                </a:solidFill>
              </a:rPr>
              <a:t>│       (6 acciones definidas)</a:t>
            </a:r>
          </a:p>
          <a:p>
            <a:r>
              <a:rPr sz="1100" i="0">
                <a:solidFill>
                  <a:srgbClr val="CADCFC"/>
                </a:solidFill>
              </a:rPr>
              <a:t>├── lambda/monitor-actions/</a:t>
            </a:r>
          </a:p>
          <a:p>
            <a:r>
              <a:rPr sz="1000" i="0">
                <a:solidFill>
                  <a:srgbClr val="FFFFFF"/>
                </a:solidFill>
              </a:rPr>
              <a:t>│   └── index.py</a:t>
            </a:r>
          </a:p>
          <a:p>
            <a:r>
              <a:rPr sz="900" i="1">
                <a:solidFill>
                  <a:srgbClr val="8899BB"/>
                </a:solidFill>
              </a:rPr>
              <a:t>│       (6 acciones Python)</a:t>
            </a:r>
          </a:p>
          <a:p>
            <a:r>
              <a:rPr sz="1100" i="0">
                <a:solidFill>
                  <a:srgbClr val="CADCFC"/>
                </a:solidFill>
              </a:rPr>
              <a:t>├── tests/</a:t>
            </a:r>
          </a:p>
          <a:p>
            <a:r>
              <a:rPr sz="1000" i="0">
                <a:solidFill>
                  <a:srgbClr val="FFFFFF"/>
                </a:solidFill>
              </a:rPr>
              <a:t>│   ├── unit/ (94 tests)</a:t>
            </a:r>
          </a:p>
          <a:p>
            <a:r>
              <a:rPr sz="1000" i="0">
                <a:solidFill>
                  <a:srgbClr val="FFFFFF"/>
                </a:solidFill>
              </a:rPr>
              <a:t>│   ├── integration/ (35)</a:t>
            </a:r>
          </a:p>
          <a:p>
            <a:r>
              <a:rPr sz="1000" i="0">
                <a:solidFill>
                  <a:srgbClr val="FFFFFF"/>
                </a:solidFill>
              </a:rPr>
              <a:t>│   └── e2e/ (33 tests)</a:t>
            </a:r>
          </a:p>
          <a:p>
            <a:r>
              <a:rPr sz="1000" i="0">
                <a:solidFill>
                  <a:srgbClr val="FFFFFF"/>
                </a:solidFill>
              </a:rPr>
              <a:t>├── validate_aws_access.py</a:t>
            </a:r>
          </a:p>
          <a:p>
            <a:r>
              <a:rPr sz="900" i="1">
                <a:solidFill>
                  <a:srgbClr val="8899BB"/>
                </a:solidFill>
              </a:rPr>
              <a:t>│   (12 checks pre-deploy)</a:t>
            </a:r>
          </a:p>
          <a:p>
            <a:r>
              <a:rPr sz="1000" i="0">
                <a:solidFill>
                  <a:srgbClr val="86EFAC"/>
                </a:solidFill>
              </a:rPr>
              <a:t>├── cleanup_deploy.py</a:t>
            </a:r>
          </a:p>
          <a:p>
            <a:r>
              <a:rPr sz="1000" i="0">
                <a:solidFill>
                  <a:srgbClr val="86EFAC"/>
                </a:solidFill>
              </a:rPr>
              <a:t>├── cleanup_bootstrap.py</a:t>
            </a:r>
          </a:p>
          <a:p>
            <a:r>
              <a:rPr sz="1000" i="0">
                <a:solidFill>
                  <a:srgbClr val="FDBA74"/>
                </a:solidFill>
              </a:rPr>
              <a:t>├── run_tests.py</a:t>
            </a:r>
          </a:p>
          <a:p>
            <a:r>
              <a:rPr sz="1100" i="0">
                <a:solidFill>
                  <a:srgbClr val="CADCFC"/>
                </a:solidFill>
              </a:rPr>
              <a:t>└── docs/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207008"/>
            <a:ext cx="5852160" cy="5285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207008"/>
            <a:ext cx="64008" cy="5285232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261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Archivos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166420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8FF"/>
                </a:solidFill>
              </a:rPr>
              <a:t>monitor-agent-stack.ts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192024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Define el Bedrock Agent, Action Group, IAM Role,
S3 schema bucket y alias 'live'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9048" y="2194560"/>
            <a:ext cx="571500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2221992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8FF"/>
                </a:solidFill>
              </a:rPr>
              <a:t>chat-frontend-stack.ts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247802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CloudFront + S3 UI, API GW con API Key y rate
limiting, Lambda proxy, log retention 30d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9048" y="2752344"/>
            <a:ext cx="571500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8" y="2779776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8FF"/>
                </a:solidFill>
              </a:rPr>
              <a:t>monitor-openapi.json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303580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Schema OpenAPI 3.0 con 6 rutas para el
Action Group de Bedrock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9048" y="3310128"/>
            <a:ext cx="571500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3337560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8FF"/>
                </a:solidFill>
              </a:rPr>
              <a:t>lambda/monitor-actions/index.py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6208" y="359359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Handler Python: 6 acciones de monitoreo,
reAct routing, formato Bedrock 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9048" y="3867912"/>
            <a:ext cx="571500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6208" y="3895344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8FF"/>
                </a:solidFill>
              </a:rPr>
              <a:t>validate_aws_access.py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6208" y="415137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12 checks de credenciales y permisos antes
del deploy — debe dar 12/12 PASS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9048" y="4425696"/>
            <a:ext cx="571500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4453128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8FF"/>
                </a:solidFill>
              </a:rPr>
              <a:t>cleanup_deploy.py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470916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Elimina Lambda, API GW, CloudFront, S3 UI,
Bedrock Agent — usar al final del día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9048" y="4983480"/>
            <a:ext cx="571500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36208" y="5010912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8FF"/>
                </a:solidFill>
              </a:rPr>
              <a:t>cleanup_bootstrap.py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6208" y="526694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Elimina CDKToolkit stack — solo si se quiere
un ambiente completamente limpio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9048" y="5541264"/>
            <a:ext cx="5715000" cy="13716"/>
          </a:xfrm>
          <a:prstGeom prst="rect">
            <a:avLst/>
          </a:prstGeom>
          <a:solidFill>
            <a:srgbClr val="E0E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5568696"/>
            <a:ext cx="5394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0A8FF"/>
                </a:solidFill>
              </a:rPr>
              <a:t>run_tests.py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36208" y="582472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Runner: unit / integration / e2e / all.
No requiere pip install adicional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CDK Stacks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Dos stacks independientes — AwsMonitorAgentStack + AwsMonitorFrontendStack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5486400" cy="5285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64008" cy="5285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AwsMonitorAgentStack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E2761"/>
                </a:solidFill>
              </a:rPr>
              <a:t>Lambda action handler:  </a:t>
            </a:r>
            <a:r>
              <a:rPr sz="1050">
                <a:solidFill>
                  <a:srgbClr val="1A1A2E"/>
                </a:solidFill>
              </a:rPr>
              <a:t>aws-monitor-agent-actions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IAM Role (Bedrock):  </a:t>
            </a:r>
            <a:r>
              <a:rPr sz="1050">
                <a:solidFill>
                  <a:srgbClr val="1A1A2E"/>
                </a:solidFill>
              </a:rPr>
              <a:t>AmazonBedrockExecutionRoleForAgents_AwsMonitor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S3 schema bucket:  </a:t>
            </a:r>
            <a:r>
              <a:rPr sz="1050">
                <a:solidFill>
                  <a:srgbClr val="1A1A2E"/>
                </a:solidFill>
              </a:rPr>
              <a:t>aws-monitor-schema-369595298303-us-east-1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Bedrock Agent:  </a:t>
            </a:r>
            <a:r>
              <a:rPr sz="1050">
                <a:solidFill>
                  <a:srgbClr val="1A1A2E"/>
                </a:solidFill>
              </a:rPr>
              <a:t>aws-monitor-agent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Agent Alias:  </a:t>
            </a:r>
            <a:r>
              <a:rPr sz="1050">
                <a:solidFill>
                  <a:srgbClr val="1A1A2E"/>
                </a:solidFill>
              </a:rPr>
              <a:t>live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Output: AgentId:  </a:t>
            </a:r>
            <a:r>
              <a:rPr sz="1050">
                <a:solidFill>
                  <a:srgbClr val="1A1A2E"/>
                </a:solidFill>
              </a:rPr>
              <a:t>→ usado por FrontendStack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Output: AgentAliasId:  </a:t>
            </a:r>
            <a:r>
              <a:rPr sz="1050">
                <a:solidFill>
                  <a:srgbClr val="1A1A2E"/>
                </a:solidFill>
              </a:rPr>
              <a:t>→ usado por FrontendStack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Output: ActionLambdaArn:  </a:t>
            </a:r>
            <a:r>
              <a:rPr sz="1050">
                <a:solidFill>
                  <a:srgbClr val="1A1A2E"/>
                </a:solidFill>
              </a:rPr>
              <a:t>→ referencia para permisos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53912" y="1207008"/>
            <a:ext cx="5486400" cy="5285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53912" y="1207008"/>
            <a:ext cx="64008" cy="5285232"/>
          </a:xfrm>
          <a:prstGeom prst="rect">
            <a:avLst/>
          </a:prstGeom>
          <a:solidFill>
            <a:srgbClr val="05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AwsMonitorFrontendStack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9164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E2761"/>
                </a:solidFill>
              </a:rPr>
              <a:t>Lambda proxy:  </a:t>
            </a:r>
            <a:r>
              <a:rPr sz="1050">
                <a:solidFill>
                  <a:srgbClr val="1A1A2E"/>
                </a:solidFill>
              </a:rPr>
              <a:t>aws-monitor-chat-proxy (Python inline)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Log retention:  </a:t>
            </a:r>
            <a:r>
              <a:rPr sz="1050">
                <a:solidFill>
                  <a:srgbClr val="1A1A2E"/>
                </a:solidFill>
              </a:rPr>
              <a:t>30 días (CloudWatch Logs)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API Gateway:  </a:t>
            </a:r>
            <a:r>
              <a:rPr sz="1050">
                <a:solidFill>
                  <a:srgbClr val="1A1A2E"/>
                </a:solidFill>
              </a:rPr>
              <a:t>aws-monitor-chat-api — POST /chat + CORS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API Key:  </a:t>
            </a:r>
            <a:r>
              <a:rPr sz="1050">
                <a:solidFill>
                  <a:srgbClr val="1A1A2E"/>
                </a:solidFill>
              </a:rPr>
              <a:t>Required · 5 req/s · burst 10 · 1000/día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S3 UI bucket:  </a:t>
            </a:r>
            <a:r>
              <a:rPr sz="1050">
                <a:solidFill>
                  <a:srgbClr val="1A1A2E"/>
                </a:solidFill>
              </a:rPr>
              <a:t>aws-monitor-chat-ui-369595298303-us-east-1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CloudFront:  </a:t>
            </a:r>
            <a:r>
              <a:rPr sz="1050">
                <a:solidFill>
                  <a:srgbClr val="1A1A2E"/>
                </a:solidFill>
              </a:rPr>
              <a:t>OAI + HTTPS · 403/404 → index.html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Output: ChatUiUrl:  </a:t>
            </a:r>
            <a:r>
              <a:rPr sz="1050">
                <a:solidFill>
                  <a:srgbClr val="1A1A2E"/>
                </a:solidFill>
              </a:rPr>
              <a:t>→ https://xxxxx.cloudfront.net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Output: ApiUrl:  </a:t>
            </a:r>
            <a:r>
              <a:rPr sz="1050">
                <a:solidFill>
                  <a:srgbClr val="1A1A2E"/>
                </a:solidFill>
              </a:rPr>
              <a:t>→ https://xxxxx.execute-api.us-east-1.amazonaws.com</a:t>
            </a:r>
          </a:p>
          <a:p>
            <a:pPr>
              <a:spcBef>
                <a:spcPts val="400"/>
              </a:spcBef>
            </a:pPr>
            <a:r>
              <a:rPr sz="1050" b="1">
                <a:solidFill>
                  <a:srgbClr val="1E2761"/>
                </a:solidFill>
              </a:rPr>
              <a:t>Output: ApiKeyId:  </a:t>
            </a:r>
            <a:r>
              <a:rPr sz="1050">
                <a:solidFill>
                  <a:srgbClr val="1A1A2E"/>
                </a:solidFill>
              </a:rPr>
              <a:t>→ recuperar valor post-deploy via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35661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8FF"/>
                </a:solidFill>
              </a:rPr>
              <a:t>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Action Group — 6 Acciones de Monitoreo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lambda/monitor-actions/index.py · Routing vía apiPath · Respuesta Bedrock 1.0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116128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64008" cy="804672"/>
          </a:xfrm>
          <a:prstGeom prst="rect">
            <a:avLst/>
          </a:prstGeom>
          <a:solidFill>
            <a:srgbClr val="06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2618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</a:rPr>
              <a:t>get_overall_health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59105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A"/>
                </a:solidFill>
              </a:rPr>
              <a:t>Params: — (sin parámetros)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26187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Retorna: overall_status, estados EC2, conteo alarmas, conteo Lambda, recomendación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591056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A"/>
                </a:solidFill>
              </a:rPr>
              <a:t>ℹ Llamar primero para visión general. Auto-encadena con get_lambda_health si hay errores.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075688"/>
            <a:ext cx="116128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64008" cy="80467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213055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</a:rPr>
              <a:t>get_ec2_health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245973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A"/>
                </a:solidFill>
              </a:rPr>
              <a:t>Params: state (opt): running | stopped | terminated | 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21305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Retorna: summary + lista: ID, name, type, state, IP, AZ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459736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A"/>
                </a:solidFill>
              </a:rPr>
              <a:t>ℹ Paginador aplicado — no pierde instancias en cuentas con &gt;100 VMs.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944368"/>
            <a:ext cx="116128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944368"/>
            <a:ext cx="64008" cy="804672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79" y="29992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</a:rPr>
              <a:t>get_lambda_health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79" y="3328415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A"/>
                </a:solidFill>
              </a:rPr>
              <a:t>Params: prefix (opt), hours (opt, default 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299923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Retorna: por función: invocations, errors, error_rate_pct, avg_duration_ms, throttles, health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328415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A"/>
                </a:solidFill>
              </a:rPr>
              <a:t>ℹ critical si error_rate ≥ 10 %, warning si &gt; 5 %.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13048"/>
            <a:ext cx="116128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813048"/>
            <a:ext cx="64008" cy="8046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79" y="3867911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</a:rPr>
              <a:t>get_cloudwatch_alarms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79" y="419709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A"/>
                </a:solidFill>
              </a:rPr>
              <a:t>Params: state (opt): ALARM | OK | INSUFFICIENT_DATA | 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3867911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Retorna: summary + lista alarmas con metric, threshold, updated_at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4197096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A"/>
                </a:solidFill>
              </a:rPr>
              <a:t>ℹ Default state=ALARM. Valida estado contra VALID_ALARM_STATES.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681728"/>
            <a:ext cx="116128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4681728"/>
            <a:ext cx="64008" cy="804672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79" y="473659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</a:rPr>
              <a:t>get_logs_analysis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79" y="506577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A"/>
                </a:solidFill>
              </a:rPr>
              <a:t>Params: log_group (req), hours (opt), query (opt, default filtra ERROR/WARN)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73659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Retorna: total_events, error_events, events[] con timestamp+message, statistics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5065776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A"/>
                </a:solidFill>
              </a:rPr>
              <a:t>ℹ Ejecuta CloudWatch Logs Insights. Timeout 25s. Responde '¿Qué dice el error?'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550408"/>
            <a:ext cx="116128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74320" y="5550408"/>
            <a:ext cx="64008" cy="8046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79" y="560527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</a:rPr>
              <a:t>get_xray_traces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79" y="5934456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657A"/>
                </a:solidFill>
              </a:rPr>
              <a:t>Params: hours (opt, max 6), filter_expression (opt)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108960" y="560527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Retorna: total_traces, summary (errors/faults/throttles/p99_duration), traces[] con service_ids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934456"/>
            <a:ext cx="8686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657A"/>
                </a:solidFill>
              </a:rPr>
              <a:t>ℹ Análisis distribuido. has_fault=5xx/crash, has_error=4xx. Responde '¿Dónde falla?'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Guía de Despliegue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Prerequisitos → Validación → Bootstrap → Deploy → Verificación post-deploy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116128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502920" cy="1005840"/>
          </a:xfrm>
          <a:prstGeom prst="rect">
            <a:avLst/>
          </a:prstGeom>
          <a:solidFill>
            <a:srgbClr val="06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52704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2710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66BC9"/>
                </a:solidFill>
              </a:rPr>
              <a:t>Prerequisitos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609344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• pip install boto3</a:t>
            </a:r>
          </a:p>
          <a:p>
            <a:r>
              <a:rPr sz="950">
                <a:solidFill>
                  <a:srgbClr val="1A1A2E"/>
                </a:solidFill>
              </a:rPr>
              <a:t>• npm install  (primera vez o si cambia package.json)</a:t>
            </a:r>
          </a:p>
          <a:p>
            <a:r>
              <a:rPr sz="950">
                <a:solidFill>
                  <a:srgbClr val="1A1A2E"/>
                </a:solidFill>
              </a:rPr>
              <a:t>• AWS Console → Bedrock → Model access (us-east-1) → habilitar Claude 3.5 Haiku</a:t>
            </a:r>
          </a:p>
          <a:p>
            <a:r>
              <a:rPr sz="950">
                <a:solidFill>
                  <a:srgbClr val="1A1A2E"/>
                </a:solidFill>
              </a:rPr>
              <a:t>• Rotar/crear Access Key activa para asilveira@3htp.com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295144"/>
            <a:ext cx="116128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295144"/>
            <a:ext cx="502920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1518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35915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B981"/>
                </a:solidFill>
              </a:rPr>
              <a:t>Validación pre-deploy  — 12/12 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2697479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• python validate_aws_access.py</a:t>
            </a:r>
          </a:p>
          <a:p>
            <a:r>
              <a:rPr sz="950">
                <a:solidFill>
                  <a:srgbClr val="1A1A2E"/>
                </a:solidFill>
              </a:rPr>
              <a:t>• Verifica 12 servicios: EC2, Lambda, CloudWatch, Logs, X-Ray,</a:t>
            </a:r>
          </a:p>
          <a:p>
            <a:r>
              <a:rPr sz="950">
                <a:solidFill>
                  <a:srgbClr val="1A1A2E"/>
                </a:solidFill>
              </a:rPr>
              <a:t>   Bedrock, IAM, S3, API GW, CDK Bootstrap, Model Access, Agent Runtime</a:t>
            </a:r>
          </a:p>
          <a:p>
            <a:r>
              <a:rPr sz="950">
                <a:solidFill>
                  <a:srgbClr val="1A1A2E"/>
                </a:solidFill>
              </a:rPr>
              <a:t>• Si algún check falla → NO continuar. Resolver primero.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383280"/>
            <a:ext cx="116128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383280"/>
            <a:ext cx="502920" cy="100584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70332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4472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9900"/>
                </a:solidFill>
              </a:rPr>
              <a:t>Bootstrap CDK  (una sola vez por cuenta/región)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856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• npx cdk bootstrap aws://369595298303/us-east-1</a:t>
            </a:r>
          </a:p>
          <a:p>
            <a:r>
              <a:rPr sz="950">
                <a:solidFill>
                  <a:srgbClr val="1A1A2E"/>
                </a:solidFill>
              </a:rPr>
              <a:t>• Crea bucket S3 + IAM roles internos que CDK necesita</a:t>
            </a:r>
          </a:p>
          <a:p>
            <a:r>
              <a:rPr sz="950">
                <a:solidFill>
                  <a:srgbClr val="1A1A2E"/>
                </a:solidFill>
              </a:rPr>
              <a:t>• No genera costos en reposo — solo infraestructura de soporte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471416"/>
            <a:ext cx="116128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471416"/>
            <a:ext cx="502920" cy="10058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791455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35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7C3AED"/>
                </a:solidFill>
              </a:rPr>
              <a:t>Deploy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7375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• npm run deploy</a:t>
            </a:r>
          </a:p>
          <a:p>
            <a:r>
              <a:rPr sz="950">
                <a:solidFill>
                  <a:srgbClr val="1A1A2E"/>
                </a:solidFill>
              </a:rPr>
              <a:t>• Despliega AwsMonitorAgentStack + AwsMonitorFrontendStack</a:t>
            </a:r>
          </a:p>
          <a:p>
            <a:r>
              <a:rPr sz="950">
                <a:solidFill>
                  <a:srgbClr val="1A1A2E"/>
                </a:solidFill>
              </a:rPr>
              <a:t>• Output: ChatUiUrl (CloudFront) + ApiUrl (API GW) + ApiKeyId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5559552"/>
            <a:ext cx="116128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5559552"/>
            <a:ext cx="502920" cy="10058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879592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23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B981"/>
                </a:solidFill>
              </a:rPr>
              <a:t>Verificación post-deploy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6188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• aws apigateway get-api-key --api-key &lt;ApiKeyId&gt; --include-value --region us-east-1</a:t>
            </a:r>
          </a:p>
          <a:p>
            <a:r>
              <a:rPr sz="950">
                <a:solidFill>
                  <a:srgbClr val="1A1A2E"/>
                </a:solidFill>
              </a:rPr>
              <a:t>• Abrir ChatUiUrl en browser · usar API Key en header x-api-key</a:t>
            </a:r>
          </a:p>
          <a:p>
            <a:r>
              <a:rPr sz="950">
                <a:solidFill>
                  <a:srgbClr val="1A1A2E"/>
                </a:solidFill>
              </a:rPr>
              <a:t>• Probar: '¿Cuál es el estado general?' → debe responder en &lt;5s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Cómo Extender el Agente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Agregar nuevos servicios, cambiar modelo LLM o habilitar multi-región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356616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3566160" cy="411480"/>
          </a:xfrm>
          <a:prstGeom prst="rect">
            <a:avLst/>
          </a:prstGeom>
          <a:solidFill>
            <a:srgbClr val="06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243584"/>
            <a:ext cx="3383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Agregar nuevo servicio (ej. RDS)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69164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2E"/>
                </a:solidFill>
              </a:rPr>
              <a:t>1. Añadir def get_rds_health(event) en lambda/monitor-actions/index.py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2. Registrar en dict ACTIONS del mismo archivo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3. Agregar path /get_rds_health en lib/monitor-openapi.json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4. Agregar permiso rds:DescribeDBInstances en ActionLambdaRole (monitor-agent-stack.ts)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5. npm run deploy — el agente toma el nuevo schema automáticamente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6. Opcional: habilitar X-Ray active tracing en la nueva función Lambda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42231" y="1207008"/>
            <a:ext cx="356616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42231" y="1207008"/>
            <a:ext cx="356616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9392" y="1243584"/>
            <a:ext cx="3383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Cambiar modelo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2" y="169164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2E"/>
                </a:solidFill>
              </a:rPr>
              <a:t>1. Editar foundationModel en lib/monitor-agent-stack.ts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   Producción recomendada: us.anthropic.claude-3-5-sonnet-20241022-v2:0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2. Actualizar ARN en la IAM policy del BedrockAgentRole (mismo archivo)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3. Verificar que el modelo no sea Legacy: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   aws bedrock get-foundation-model --model-identifier &lt;id&gt;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4. npm run 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1207008"/>
            <a:ext cx="356616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10144" y="1207008"/>
            <a:ext cx="3566160" cy="411480"/>
          </a:xfrm>
          <a:prstGeom prst="rect">
            <a:avLst/>
          </a:prstGeom>
          <a:solidFill>
            <a:srgbClr val="05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47304" y="1243584"/>
            <a:ext cx="33832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Multi-región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169164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2E"/>
                </a:solidFill>
              </a:rPr>
              <a:t>1. Agregar parámetro region al OpenAPI schema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2. En index.py, crear boto3 client con boto3.client(svc, region_name=region)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3. Retornar datos agrupados por región en la respuesta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4. Actualizar IAM policy para permitir acceso cross-region</a:t>
            </a:r>
          </a:p>
          <a:p>
            <a:pPr>
              <a:spcBef>
                <a:spcPts val="500"/>
              </a:spcBef>
            </a:pPr>
            <a:r>
              <a:rPr sz="1000">
                <a:solidFill>
                  <a:srgbClr val="1A1A2E"/>
                </a:solidFill>
              </a:rPr>
              <a:t>5. Considerar replicar el stack completo con CDK en la nueva región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Seguridad &amp; IAM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Principio de menor privilegio · 3 roles · API Key · System Prompt · Rate Limiting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35661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3566160" cy="384048"/>
          </a:xfrm>
          <a:prstGeom prst="rect">
            <a:avLst/>
          </a:prstGeom>
          <a:solidFill>
            <a:srgbClr val="06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23444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ChatLambdaRole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536192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A"/>
                </a:solidFill>
              </a:rPr>
              <a:t>→ aws-monitor-chat-proxy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828800"/>
            <a:ext cx="338327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2E"/>
                </a:solidFill>
              </a:rPr>
              <a:t>• bedrock:InvokeAgent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42231" y="1207008"/>
            <a:ext cx="35661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42231" y="1207008"/>
            <a:ext cx="3566160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59" y="123444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BedrockAgentRole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59" y="1536192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A"/>
                </a:solidFill>
              </a:rPr>
              <a:t>→ Bedrock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1828800"/>
            <a:ext cx="338327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1A1A2E"/>
                </a:solidFill>
              </a:rPr>
              <a:t>• bedrock:InvokeModel (Claude 3.5 Haiku)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2E"/>
                </a:solidFill>
              </a:rPr>
              <a:t>• s3:GetObject (schema bucket)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10144" y="1207008"/>
            <a:ext cx="35661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1207008"/>
            <a:ext cx="3566160" cy="384048"/>
          </a:xfrm>
          <a:prstGeom prst="rect">
            <a:avLst/>
          </a:prstGeom>
          <a:solidFill>
            <a:srgbClr val="055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19871" y="123444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ActionLambdaRole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9871" y="1536192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A"/>
                </a:solidFill>
              </a:rPr>
              <a:t>→ aws-monitor-agent-actions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1828800"/>
            <a:ext cx="338327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• ec2:DescribeInstances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1A1A2E"/>
                </a:solidFill>
              </a:rPr>
              <a:t>• lambda:ListFunctions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1A1A2E"/>
                </a:solidFill>
              </a:rPr>
              <a:t>• cloudwatch:DescribeAlarms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1A1A2E"/>
                </a:solidFill>
              </a:rPr>
              <a:t>• cloudwatch:GetMetricStatistics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1A1A2E"/>
                </a:solidFill>
              </a:rPr>
              <a:t>• logs:GetLogEvents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1A1A2E"/>
                </a:solidFill>
              </a:rPr>
              <a:t>• logs:StartQuery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1A1A2E"/>
                </a:solidFill>
              </a:rPr>
              <a:t>• logs:GetQueryResults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1A1A2E"/>
                </a:solidFill>
              </a:rPr>
              <a:t>• logs:StopQuery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1A1A2E"/>
                </a:solidFill>
              </a:rPr>
              <a:t>• xray:GetTraceSummaries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1A1A2E"/>
                </a:solidFill>
              </a:rPr>
              <a:t>• xray:BatchGetTraces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7091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Controles de Seguridad Aplicados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074920"/>
            <a:ext cx="18288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5074920"/>
            <a:ext cx="18288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5148072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E2761"/>
                </a:solidFill>
              </a:rPr>
              <a:t>API Key</a:t>
            </a:r>
          </a:p>
          <a:p>
            <a:pPr algn="ctr"/>
            <a:r>
              <a:rPr sz="1000" b="0">
                <a:solidFill>
                  <a:srgbClr val="1E2761"/>
                </a:solidFill>
              </a:rPr>
              <a:t>+ Usage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742432"/>
            <a:ext cx="1691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657A"/>
                </a:solidFill>
              </a:rPr>
              <a:t>5 req/s · burst 10</a:t>
            </a:r>
          </a:p>
          <a:p>
            <a:pPr algn="ctr"/>
            <a:r>
              <a:rPr sz="900">
                <a:solidFill>
                  <a:srgbClr val="55657A"/>
                </a:solidFill>
              </a:rPr>
              <a:t>1000 req/día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12848" y="5074920"/>
            <a:ext cx="18288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2848" y="5074920"/>
            <a:ext cx="18288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04288" y="5148072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E2761"/>
                </a:solidFill>
              </a:rPr>
              <a:t>Rate Limiting</a:t>
            </a:r>
          </a:p>
          <a:p>
            <a:pPr algn="ctr"/>
            <a:r>
              <a:rPr sz="1000" b="0">
                <a:solidFill>
                  <a:srgbClr val="1E2761"/>
                </a:solidFill>
              </a:rPr>
              <a:t>API GW 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04288" y="5742432"/>
            <a:ext cx="1691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657A"/>
                </a:solidFill>
              </a:rPr>
              <a:t>20 req/s rate</a:t>
            </a:r>
          </a:p>
          <a:p>
            <a:pPr algn="ctr"/>
            <a:r>
              <a:rPr sz="900">
                <a:solidFill>
                  <a:srgbClr val="55657A"/>
                </a:solidFill>
              </a:rPr>
              <a:t>10 burst stage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51376" y="5074920"/>
            <a:ext cx="18288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51376" y="5074920"/>
            <a:ext cx="18288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2816" y="5148072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E2761"/>
                </a:solidFill>
              </a:rPr>
              <a:t>Log Retention</a:t>
            </a:r>
          </a:p>
          <a:p>
            <a:pPr algn="ctr"/>
            <a:r>
              <a:rPr sz="1000" b="0">
                <a:solidFill>
                  <a:srgbClr val="1E2761"/>
                </a:solidFill>
              </a:rPr>
              <a:t>CloudWatch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42816" y="5742432"/>
            <a:ext cx="1691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657A"/>
                </a:solidFill>
              </a:rPr>
              <a:t>30 días</a:t>
            </a:r>
          </a:p>
          <a:p>
            <a:pPr algn="ctr"/>
            <a:r>
              <a:rPr sz="900">
                <a:solidFill>
                  <a:srgbClr val="55657A"/>
                </a:solidFill>
              </a:rPr>
              <a:t>aws-monitor-chat-proxy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9904" y="5074920"/>
            <a:ext cx="18288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89904" y="5074920"/>
            <a:ext cx="18288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1344" y="5148072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E2761"/>
                </a:solidFill>
              </a:rPr>
              <a:t>System Prompt</a:t>
            </a:r>
          </a:p>
          <a:p>
            <a:pPr algn="ctr"/>
            <a:r>
              <a:rPr sz="1000" b="0">
                <a:solidFill>
                  <a:srgbClr val="1E2761"/>
                </a:solidFill>
              </a:rPr>
              <a:t>6 restricciones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1344" y="5742432"/>
            <a:ext cx="1691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657A"/>
                </a:solidFill>
              </a:rPr>
              <a:t>No destructive</a:t>
            </a:r>
          </a:p>
          <a:p>
            <a:pPr algn="ctr"/>
            <a:r>
              <a:rPr sz="900">
                <a:solidFill>
                  <a:srgbClr val="55657A"/>
                </a:solidFill>
              </a:rPr>
              <a:t>No prompt injection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28432" y="5074920"/>
            <a:ext cx="18288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28432" y="5074920"/>
            <a:ext cx="18288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9872" y="5148072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E2761"/>
                </a:solidFill>
              </a:rPr>
              <a:t>S3 Block</a:t>
            </a:r>
          </a:p>
          <a:p>
            <a:pPr algn="ctr"/>
            <a:r>
              <a:rPr sz="1000" b="0">
                <a:solidFill>
                  <a:srgbClr val="1E2761"/>
                </a:solidFill>
              </a:rPr>
              <a:t>Public Access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9872" y="5742432"/>
            <a:ext cx="1691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657A"/>
                </a:solidFill>
              </a:rPr>
              <a:t>Solo acceso via</a:t>
            </a:r>
          </a:p>
          <a:p>
            <a:pPr algn="ctr"/>
            <a:r>
              <a:rPr sz="900">
                <a:solidFill>
                  <a:srgbClr val="55657A"/>
                </a:solidFill>
              </a:rPr>
              <a:t>OAI (CloudFront)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6960" y="5074920"/>
            <a:ext cx="182880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66960" y="5074920"/>
            <a:ext cx="18288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5148072"/>
            <a:ext cx="16916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E2761"/>
                </a:solidFill>
              </a:rPr>
              <a:t>IAM Least</a:t>
            </a:r>
          </a:p>
          <a:p>
            <a:pPr algn="ctr"/>
            <a:r>
              <a:rPr sz="1000" b="0">
                <a:solidFill>
                  <a:srgbClr val="1E2761"/>
                </a:solidFill>
              </a:rPr>
              <a:t>Privilege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0" y="5742432"/>
            <a:ext cx="1691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>
                <a:solidFill>
                  <a:srgbClr val="55657A"/>
                </a:solidFill>
              </a:rPr>
              <a:t>3 roles mínimos</a:t>
            </a:r>
          </a:p>
          <a:p>
            <a:pPr algn="ctr"/>
            <a:r>
              <a:rPr sz="900">
                <a:solidFill>
                  <a:srgbClr val="55657A"/>
                </a:solidFill>
              </a:rPr>
              <a:t>Sin Access Keys en código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Suite de Tests — 162 Tests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Python stdlib puro · sin pip install · unit / integration / e2e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2560320" cy="1188720"/>
          </a:xfrm>
          <a:prstGeom prst="rect">
            <a:avLst/>
          </a:prstGeom>
          <a:solidFill>
            <a:srgbClr val="066B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016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162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8105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Tests totales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79" y="1207008"/>
            <a:ext cx="2560320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79" y="128016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79" y="18105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Failures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207008"/>
            <a:ext cx="2560320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0" y="128016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18105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Errors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1207008"/>
            <a:ext cx="2560320" cy="118872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15400" y="1280160"/>
            <a:ext cx="2560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181051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Categorías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542032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</a:rPr>
              <a:t>Archivos de 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907792"/>
            <a:ext cx="11612880" cy="38404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944368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Archivo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33672" y="2944368"/>
            <a:ext cx="1280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Tipo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2944368"/>
            <a:ext cx="548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#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3912" y="2944368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Cobertura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10128"/>
            <a:ext cx="116128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40156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tests/unit/test_monitor_actions.py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33672" y="34015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A8FF"/>
                </a:solidFill>
              </a:rPr>
              <a:t>Unit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41264" y="3401568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</a:rPr>
              <a:t>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3912" y="340156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A"/>
                </a:solidFill>
              </a:rPr>
              <a:t>TestGetLogsAnalysis, TestGetXrayTraces, TestResponseEnvelope...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840480"/>
            <a:ext cx="11612880" cy="50292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93192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tests/integration/test_validator.py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393192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A8FF"/>
                </a:solidFill>
              </a:rPr>
              <a:t>Integration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41264" y="3931920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</a:rPr>
              <a:t>35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3912" y="393192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A"/>
                </a:solidFill>
              </a:rPr>
              <a:t>Validación AWS credentials, 12 checks end-to-end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370832"/>
            <a:ext cx="1161288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7472" y="446227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tests/integration/test_typescript_build.py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33672" y="446227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A8FF"/>
                </a:solidFill>
              </a:rPr>
              <a:t>Integration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41264" y="4462272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53912" y="44622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A"/>
                </a:solidFill>
              </a:rPr>
              <a:t>Compilación TypeScript del CDK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901183"/>
            <a:ext cx="11612880" cy="50292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" y="4992623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tests/e2e/test_bedrock_contract.py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33672" y="4992623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0A8FF"/>
                </a:solidFill>
              </a:rPr>
              <a:t>E2E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41264" y="4992623"/>
            <a:ext cx="548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</a:rPr>
              <a:t>32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53912" y="4992623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57A"/>
                </a:solidFill>
              </a:rPr>
              <a:t>Contrato Bedrock 1.0, TestDiagnosticScenarios (10 gaps)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468112"/>
            <a:ext cx="11612880" cy="1115568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5468112"/>
            <a:ext cx="64008" cy="1115568"/>
          </a:xfrm>
          <a:prstGeom prst="rect">
            <a:avLst/>
          </a:prstGeom>
          <a:solidFill>
            <a:srgbClr val="0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55138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</a:rPr>
              <a:t>TestDiagnosticScenarios — Valida las 7 brechas diagnósticas resueltas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52160"/>
            <a:ext cx="11338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</a:rPr>
              <a:t>test_gap1: mensaje de error legible  |  test_gap2: timestamp exacto  |  test_gap3: service_ids (qué microservicio)  |  test_gap4: fault vs error  |  test_gap5: p99 duration  |  test_gap6: conteo de errores en logs  |  test_gap7: RCA multi-herramienta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Scripts de Limpieza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Control de costos · cleanup_deploy.py (diario) + cleanup_bootstrap.py (total)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64008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663A"/>
                </a:solidFill>
              </a:rPr>
              <a:t>Costo en reposo: &lt; $0.02/mes   |   El riesgo de gasto viene del USO (tokens Bedrock, req API), no de la existencia de recursos.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938528"/>
            <a:ext cx="5687568" cy="4526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938528"/>
            <a:ext cx="5687568" cy="411480"/>
          </a:xfrm>
          <a:prstGeom prst="rect">
            <a:avLst/>
          </a:prstGeom>
          <a:solidFill>
            <a:srgbClr val="FF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975104"/>
            <a:ext cx="55046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cleanup_deploy.py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377440"/>
            <a:ext cx="5504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A"/>
                </a:solidFill>
              </a:rPr>
              <a:t>Cuándo: Al final del día de desarrollo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670048"/>
            <a:ext cx="5504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</a:rPr>
              <a:t>Elimina: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2944368"/>
            <a:ext cx="54589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• Lambda: aws-monitor-agent-actions</a:t>
            </a:r>
          </a:p>
          <a:p>
            <a:r>
              <a:rPr sz="950">
                <a:solidFill>
                  <a:srgbClr val="1A1A2E"/>
                </a:solidFill>
              </a:rPr>
              <a:t>• Lambda: aws-monitor-chat-proxy</a:t>
            </a:r>
          </a:p>
          <a:p>
            <a:r>
              <a:rPr sz="950">
                <a:solidFill>
                  <a:srgbClr val="1A1A2E"/>
                </a:solidFill>
              </a:rPr>
              <a:t>• API Gateway: aws-monitor-chat-api</a:t>
            </a:r>
          </a:p>
          <a:p>
            <a:r>
              <a:rPr sz="950">
                <a:solidFill>
                  <a:srgbClr val="1A1A2E"/>
                </a:solidFill>
              </a:rPr>
              <a:t>• CloudFront distribution</a:t>
            </a:r>
          </a:p>
          <a:p>
            <a:r>
              <a:rPr sz="950">
                <a:solidFill>
                  <a:srgbClr val="1A1A2E"/>
                </a:solidFill>
              </a:rPr>
              <a:t>• S3 UI bucket (vaciado automático)</a:t>
            </a:r>
          </a:p>
          <a:p>
            <a:r>
              <a:rPr sz="950">
                <a:solidFill>
                  <a:srgbClr val="1A1A2E"/>
                </a:solidFill>
              </a:rPr>
              <a:t>• S3 schema bucket (vaciado automático)</a:t>
            </a:r>
          </a:p>
          <a:p>
            <a:r>
              <a:rPr sz="950">
                <a:solidFill>
                  <a:srgbClr val="1A1A2E"/>
                </a:solidFill>
              </a:rPr>
              <a:t>• Bedrock Agent + Agent Alias 'live'</a:t>
            </a:r>
          </a:p>
          <a:p>
            <a:r>
              <a:rPr sz="950">
                <a:solidFill>
                  <a:srgbClr val="1A1A2E"/>
                </a:solidFill>
              </a:rPr>
              <a:t>• AwsMonitorAgentStack + AwsMonitorFrontendStack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4983480"/>
            <a:ext cx="5504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</a:rPr>
              <a:t>Comandos: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5266944"/>
            <a:ext cx="5486400" cy="740664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321808"/>
            <a:ext cx="5276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FFC0"/>
                </a:solidFill>
              </a:rPr>
              <a:t>python cleanup_deploy.py          # elimina recursos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623560"/>
            <a:ext cx="5276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FFC0"/>
                </a:solidFill>
              </a:rPr>
              <a:t>python cleanup_deploy.py --dry-run  # solo muestra qué eliminaría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38528"/>
            <a:ext cx="5687568" cy="4526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38528"/>
            <a:ext cx="5687568" cy="4114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975104"/>
            <a:ext cx="550468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cleanup_bootstrap.py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377440"/>
            <a:ext cx="5504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657A"/>
                </a:solidFill>
              </a:rPr>
              <a:t>Cuándo: Solo si se quiere ambiente completamente limpio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670048"/>
            <a:ext cx="5504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</a:rPr>
              <a:t>Elimina: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944368"/>
            <a:ext cx="545896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1A1A2E"/>
                </a:solidFill>
              </a:rPr>
              <a:t>• CDKToolkit CloudFormation stack</a:t>
            </a:r>
          </a:p>
          <a:p>
            <a:r>
              <a:rPr sz="950">
                <a:solidFill>
                  <a:srgbClr val="1A1A2E"/>
                </a:solidFill>
              </a:rPr>
              <a:t>• Bucket S3 de assets CDK</a:t>
            </a:r>
          </a:p>
          <a:p>
            <a:r>
              <a:rPr sz="950">
                <a:solidFill>
                  <a:srgbClr val="1A1A2E"/>
                </a:solidFill>
              </a:rPr>
              <a:t>• IAM roles internos de CDK Bootstrap</a:t>
            </a:r>
          </a:p>
          <a:p>
            <a:r>
              <a:rPr sz="950">
                <a:solidFill>
                  <a:srgbClr val="1A1A2E"/>
                </a:solidFill>
              </a:rPr>
              <a:t>• SSM parameters de CDK</a:t>
            </a:r>
          </a:p>
          <a:p>
            <a:r>
              <a:rPr sz="950">
                <a:solidFill>
                  <a:srgbClr val="EF4444"/>
                </a:solidFill>
              </a:rPr>
              <a:t>⚠ Después de esto, re-bootstrap necesario antes de re-deploy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983480"/>
            <a:ext cx="5504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E2761"/>
                </a:solidFill>
              </a:rPr>
              <a:t>Comandos: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5266944"/>
            <a:ext cx="5486400" cy="1042415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5321808"/>
            <a:ext cx="5276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FFC0"/>
                </a:solidFill>
              </a:rPr>
              <a:t># Orden correcto para limpieza total: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5623560"/>
            <a:ext cx="5276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FFC0"/>
                </a:solidFill>
              </a:rPr>
              <a:t>python cleanup_deploy.py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925312"/>
            <a:ext cx="527608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FFC0"/>
                </a:solidFill>
              </a:rPr>
              <a:t>python cleanup_bootstrap.py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400800"/>
            <a:ext cx="11612880" cy="274320"/>
          </a:xfrm>
          <a:prstGeom prst="rect">
            <a:avLst/>
          </a:prstGeom>
          <a:solidFill>
            <a:srgbClr val="E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19088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2761"/>
                </a:solidFill>
              </a:rPr>
              <a:t>Para re-deploy después de limpiar:  python validate_aws_access.py → npm run deploy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Próximos Pasos &amp; Checklist de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58368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</a:rPr>
              <a:t>Bloqueantes → Deploy → Producción con usuarios → Opcionales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</a:rPr>
              <a:t>AWS Monitor Agent · 3htp · us-east-1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07008"/>
            <a:ext cx="1161288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07008"/>
            <a:ext cx="64008" cy="12618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61872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🔴 Bloqueantes (sin esto el deploy falla)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09344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• Habilitar Claude 3.5 Haiku en AWS Console → Bedrock → Model access (us-east-1)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A1A2E"/>
                </a:solidFill>
              </a:rPr>
              <a:t>• Rotar Access Key AKIAVMDMYWH7VHZK7FC3 — inactiva, crear nueva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A1A2E"/>
                </a:solidFill>
              </a:rPr>
              <a:t>• python validate_aws_access.py → confirmar 12/12 PASS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60320"/>
            <a:ext cx="1161288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560320"/>
            <a:ext cx="64008" cy="1261872"/>
          </a:xfrm>
          <a:prstGeom prst="rect">
            <a:avLst/>
          </a:prstGeom>
          <a:solidFill>
            <a:srgbClr val="FF5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15184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5500"/>
                </a:solidFill>
              </a:rPr>
              <a:t>🔴 Deploy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62656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• npm install → npx cdk bootstrap aws://369595298303/us-east-1 → npm run deploy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A1A2E"/>
                </a:solidFill>
              </a:rPr>
              <a:t>• Post-deploy: aws apigateway get-api-key --api-key &lt;ApiKeyId&gt; --include-value --region us-east-1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A1A2E"/>
                </a:solidFill>
              </a:rPr>
              <a:t>• Probar agente: abrir ChatUiUrl y enviar '¿Cuál es el estado general de la infraestructura?'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13632"/>
            <a:ext cx="1161288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13632"/>
            <a:ext cx="64008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968496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</a:rPr>
              <a:t>🟡 Producción con usuarios externos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315968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• Reemplazar API Key por Cognito User Pool + JWT Authorizer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A1A2E"/>
                </a:solidFill>
              </a:rPr>
              <a:t>• Revisar Usage Plan (1000 req/día puede ser insuficiente en producción real)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A1A2E"/>
                </a:solidFill>
              </a:rPr>
              <a:t>• Habilitar X-Ray active tracing en aws-monitor-agent-actions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266944"/>
            <a:ext cx="11612880" cy="1261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5266944"/>
            <a:ext cx="64008" cy="12618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321807"/>
            <a:ext cx="10972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</a:rPr>
              <a:t>🟢 Opcionales / Mejoras futuras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6928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1A1A2E"/>
                </a:solidFill>
              </a:rPr>
              <a:t>• Upgrade modelo: us.anthropic.claude-3-5-sonnet-20241022-v2:0 (mayor calidad, mayor costo)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A1A2E"/>
                </a:solidFill>
              </a:rPr>
              <a:t>• Migrar REST API → HTTP API (reducción costo ~70%)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1A1A2E"/>
                </a:solidFill>
              </a:rPr>
              <a:t>• Agregar monitoreo de RDS — ver Sección 'Cómo Extender el Agente'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